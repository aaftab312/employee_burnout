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3" r:id="rId6"/>
    <p:sldId id="271" r:id="rId7"/>
    <p:sldId id="274" r:id="rId8"/>
    <p:sldId id="262" r:id="rId9"/>
    <p:sldId id="275" r:id="rId10"/>
    <p:sldId id="276" r:id="rId11"/>
    <p:sldId id="272" r:id="rId12"/>
    <p:sldId id="260" r:id="rId13"/>
    <p:sldId id="267" r:id="rId14"/>
    <p:sldId id="264" r:id="rId1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624507-C8D4-4C53-BE45-FC96B08FE042}" v="1" dt="2026-04-06T07:50:55.30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58"/>
      </p:cViewPr>
      <p:guideLst>
        <p:guide orient="horz" pos="2880"/>
        <p:guide pos="216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2056F-05B5-4F02-B149-93AE7DF18C17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106EA-D8D9-4E2E-ADFB-E1D8C33FE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744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106EA-D8D9-4E2E-ADFB-E1D8C33FECA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88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4895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8116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100" y="987899"/>
                </a:moveTo>
                <a:lnTo>
                  <a:pt x="0" y="987899"/>
                </a:lnTo>
                <a:lnTo>
                  <a:pt x="989100" y="0"/>
                </a:lnTo>
                <a:lnTo>
                  <a:pt x="989100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7027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54757" y="3903681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891594"/>
            <a:ext cx="9144000" cy="252095"/>
          </a:xfrm>
          <a:custGeom>
            <a:avLst/>
            <a:gdLst/>
            <a:ahLst/>
            <a:cxnLst/>
            <a:rect l="l" t="t" r="r" b="b"/>
            <a:pathLst>
              <a:path w="9144000" h="252095">
                <a:moveTo>
                  <a:pt x="9143999" y="251999"/>
                </a:moveTo>
                <a:lnTo>
                  <a:pt x="0" y="251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19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37665" y="148340"/>
            <a:ext cx="5068668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0710" y="1344908"/>
            <a:ext cx="8402955" cy="288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585" y="-190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 dirty="0">
              <a:solidFill>
                <a:schemeClr val="bg1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98378" y="4"/>
            <a:ext cx="3046095" cy="203073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4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47558" y="1797252"/>
            <a:ext cx="71628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335"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 Learning Internship Project</a:t>
            </a:r>
          </a:p>
          <a:p>
            <a:pPr marR="13335" algn="ctr">
              <a:lnSpc>
                <a:spcPct val="100000"/>
              </a:lnSpc>
            </a:pPr>
            <a:endParaRPr lang="en-IN" sz="20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R="13335"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Employee Burnout Risk Prediction System”</a:t>
            </a:r>
          </a:p>
          <a:p>
            <a:pPr marR="13335" algn="ctr"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6665" y="3748949"/>
            <a:ext cx="26828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IN" sz="1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422C96-AE18-A44C-247E-81D391AC44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6780" y="122867"/>
            <a:ext cx="1506010" cy="155415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object 9">
            <a:extLst>
              <a:ext uri="{FF2B5EF4-FFF2-40B4-BE49-F238E27FC236}">
                <a16:creationId xmlns:a16="http://schemas.microsoft.com/office/drawing/2014/main" id="{DF291C29-FB6B-0920-374B-3EE346346D99}"/>
              </a:ext>
            </a:extLst>
          </p:cNvPr>
          <p:cNvSpPr txBox="1"/>
          <p:nvPr/>
        </p:nvSpPr>
        <p:spPr>
          <a:xfrm>
            <a:off x="536402" y="3149579"/>
            <a:ext cx="716280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335" algn="l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  <a:latin typeface="Times New Roman"/>
                <a:cs typeface="Times New Roman"/>
              </a:rPr>
              <a:t>Submitted By</a:t>
            </a:r>
          </a:p>
          <a:p>
            <a:pPr marR="13335" algn="l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  <a:latin typeface="Times New Roman"/>
                <a:cs typeface="Times New Roman"/>
              </a:rPr>
              <a:t>Mr. Aaftab</a:t>
            </a:r>
          </a:p>
          <a:p>
            <a:pPr marR="13335" algn="l">
              <a:lnSpc>
                <a:spcPct val="100000"/>
              </a:lnSpc>
            </a:pPr>
            <a:endParaRPr lang="en-US" sz="16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R="13335" algn="l">
              <a:lnSpc>
                <a:spcPct val="100000"/>
              </a:lnSpc>
            </a:pPr>
            <a:endParaRPr lang="en-US" sz="16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R="13335" algn="l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  <a:latin typeface="Times New Roman"/>
                <a:cs typeface="Times New Roman"/>
              </a:rPr>
              <a:t>Submitted To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LEARNDEPTH ACADEMY LLP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127230"/>
            <a:ext cx="2203422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CONTENTS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895350"/>
            <a:ext cx="5181600" cy="3802323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0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lang="en-US"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Introduction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430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lang="en-US"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Problem Statement</a:t>
            </a:r>
          </a:p>
          <a:p>
            <a:pPr marL="379095" indent="-366395">
              <a:spcBef>
                <a:spcPts val="430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lang="en-IN"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Data description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434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lang="en-US"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Exploratory Data Analysis</a:t>
            </a:r>
          </a:p>
          <a:p>
            <a:pPr marL="379095" indent="-366395">
              <a:lnSpc>
                <a:spcPct val="100000"/>
              </a:lnSpc>
              <a:spcBef>
                <a:spcPts val="434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lang="en-US"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Data Visualization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434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lang="en-US"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Data Preprocessing &amp; Model</a:t>
            </a:r>
          </a:p>
          <a:p>
            <a:pPr marL="379095" indent="-366395">
              <a:lnSpc>
                <a:spcPct val="100000"/>
              </a:lnSpc>
              <a:spcBef>
                <a:spcPts val="434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lang="en-US"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Model Evaluation</a:t>
            </a:r>
          </a:p>
          <a:p>
            <a:pPr marL="379095" indent="-366395">
              <a:lnSpc>
                <a:spcPct val="100000"/>
              </a:lnSpc>
              <a:spcBef>
                <a:spcPts val="430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lang="en-US"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Key Insights &amp; Scenario Analysis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434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lang="en-US"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Conclusion &amp; Recommendation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C308998-1619-EE13-7D28-65FAAB453945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209550"/>
            <a:ext cx="3009087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Introduction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438013"/>
            <a:ext cx="8153399" cy="11592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2705" indent="-36703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572260" algn="l"/>
                <a:tab pos="3044190" algn="l"/>
                <a:tab pos="3868420" algn="l"/>
                <a:tab pos="4476750" algn="l"/>
                <a:tab pos="5629910" algn="l"/>
                <a:tab pos="6251575" algn="l"/>
                <a:tab pos="663575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burnout affects productivity and well-being.</a:t>
            </a:r>
          </a:p>
          <a:p>
            <a:pPr marL="379095" marR="52705" indent="-36703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572260" algn="l"/>
                <a:tab pos="3044190" algn="l"/>
                <a:tab pos="3868420" algn="l"/>
                <a:tab pos="4476750" algn="l"/>
                <a:tab pos="5629910" algn="l"/>
                <a:tab pos="6251575" algn="l"/>
                <a:tab pos="663575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stress and workload increase burnout risk.</a:t>
            </a:r>
          </a:p>
          <a:p>
            <a:pPr marL="379095" marR="52705" indent="-36703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572260" algn="l"/>
                <a:tab pos="3044190" algn="l"/>
                <a:tab pos="3868420" algn="l"/>
                <a:tab pos="4476750" algn="l"/>
                <a:tab pos="5629910" algn="l"/>
                <a:tab pos="6251575" algn="l"/>
                <a:tab pos="6635750" algn="l"/>
              </a:tabLs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help identify employees at risk</a:t>
            </a:r>
          </a:p>
          <a:p>
            <a:pPr marL="379095" marR="52705" indent="-36703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572260" algn="l"/>
                <a:tab pos="3044190" algn="l"/>
                <a:tab pos="3868420" algn="l"/>
                <a:tab pos="4476750" algn="l"/>
                <a:tab pos="5629910" algn="l"/>
                <a:tab pos="6251575" algn="l"/>
                <a:tab pos="6635750" algn="l"/>
              </a:tabLs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prediction enables preventive action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D84D285-69A4-C773-ECFA-F87AE10E5339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09550"/>
            <a:ext cx="6191934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4745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Problem Statement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900" y="1352550"/>
            <a:ext cx="7924800" cy="2305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to predict to employee burnout risk based     on workplace and lifestyle factors.</a:t>
            </a:r>
          </a:p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reduce employee turnover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 productivity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 employee wellness initiatives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413C3C9-98AA-71ED-44E8-60344170CEB3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0AE00-57DC-8C62-6DF3-2A2C1099B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665" y="148340"/>
            <a:ext cx="5068668" cy="415498"/>
          </a:xfrm>
        </p:spPr>
        <p:txBody>
          <a:bodyPr/>
          <a:lstStyle/>
          <a:p>
            <a:pPr algn="ctr"/>
            <a:r>
              <a:rPr lang="en-US" dirty="0"/>
              <a:t>Data Description</a:t>
            </a:r>
            <a:endParaRPr lang="en-IN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69789392-0FEF-91C0-5CDF-F28958AC2299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04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C51F7BC-2B1D-7CAD-0C22-56825E9C7D73}"/>
              </a:ext>
            </a:extLst>
          </p:cNvPr>
          <p:cNvSpPr txBox="1"/>
          <p:nvPr/>
        </p:nvSpPr>
        <p:spPr>
          <a:xfrm>
            <a:off x="723900" y="971550"/>
            <a:ext cx="7924800" cy="347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Information: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Total Records: 1000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Feature: 13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Target Variable: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burnout_risk_score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Features: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Age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Weekly work hours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Stress Level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Sleep Hours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Exercise Hours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Productivity Score</a:t>
            </a:r>
          </a:p>
        </p:txBody>
      </p:sp>
    </p:spTree>
    <p:extLst>
      <p:ext uri="{BB962C8B-B14F-4D97-AF65-F5344CB8AC3E}">
        <p14:creationId xmlns:p14="http://schemas.microsoft.com/office/powerpoint/2010/main" val="212738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0D972-1A42-BE81-A1E3-328328E5F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0F5701-79F7-DF56-0885-A8C4987FD3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0" y="-251645"/>
            <a:ext cx="6705600" cy="752425"/>
          </a:xfrm>
          <a:prstGeom prst="rect">
            <a:avLst/>
          </a:prstGeom>
        </p:spPr>
        <p:txBody>
          <a:bodyPr vert="horz" wrap="square" lIns="0" tIns="333668" rIns="0" bIns="0" rtlCol="0">
            <a:spAutoFit/>
          </a:bodyPr>
          <a:lstStyle/>
          <a:p>
            <a:pPr marL="509905" algn="ctr">
              <a:lnSpc>
                <a:spcPct val="100000"/>
              </a:lnSpc>
              <a:spcBef>
                <a:spcPts val="100"/>
              </a:spcBef>
            </a:pPr>
            <a:r>
              <a:rPr lang="en-US" spc="-50" dirty="0"/>
              <a:t>Exploratory Data Analysis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D9B62730-D31C-F4E4-CF1A-AE4F0B1A5412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05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F93DB54-0545-F4D9-3972-C50C88B62041}"/>
              </a:ext>
            </a:extLst>
          </p:cNvPr>
          <p:cNvSpPr txBox="1"/>
          <p:nvPr/>
        </p:nvSpPr>
        <p:spPr>
          <a:xfrm>
            <a:off x="723900" y="1352550"/>
            <a:ext cx="7924800" cy="17389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Analysis(EDA):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analysis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summary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analysis</a:t>
            </a:r>
          </a:p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224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DC8E-6601-96A0-F02B-EDC968170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4476750"/>
            <a:ext cx="5068668" cy="307777"/>
          </a:xfrm>
        </p:spPr>
        <p:txBody>
          <a:bodyPr/>
          <a:lstStyle/>
          <a:p>
            <a:pPr algn="ctr"/>
            <a:r>
              <a:rPr lang="en-US" sz="2000" b="0" u="none" dirty="0">
                <a:solidFill>
                  <a:schemeClr val="tx1"/>
                </a:solidFill>
              </a:rPr>
              <a:t>Heatmap</a:t>
            </a:r>
            <a:endParaRPr lang="en-IN" sz="2000" b="0" u="none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F91C4-9BBB-CDC3-B687-4EAD746B4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3349"/>
            <a:ext cx="7315200" cy="4191001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6226CF0-AEAB-A255-9E92-C4901B1EB8EE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06</a:t>
            </a:r>
          </a:p>
        </p:txBody>
      </p:sp>
    </p:spTree>
    <p:extLst>
      <p:ext uri="{BB962C8B-B14F-4D97-AF65-F5344CB8AC3E}">
        <p14:creationId xmlns:p14="http://schemas.microsoft.com/office/powerpoint/2010/main" val="3588435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-238075"/>
            <a:ext cx="5068668" cy="752425"/>
          </a:xfrm>
          <a:prstGeom prst="rect">
            <a:avLst/>
          </a:prstGeom>
        </p:spPr>
        <p:txBody>
          <a:bodyPr vert="horz" wrap="square" lIns="0" tIns="333668" rIns="0" bIns="0" rtlCol="0">
            <a:spAutoFit/>
          </a:bodyPr>
          <a:lstStyle/>
          <a:p>
            <a:pPr marL="509905" algn="ctr">
              <a:lnSpc>
                <a:spcPct val="100000"/>
              </a:lnSpc>
              <a:spcBef>
                <a:spcPts val="100"/>
              </a:spcBef>
            </a:pPr>
            <a:r>
              <a:rPr lang="en-US" spc="-50" dirty="0"/>
              <a:t>Data Visualization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A30F8AC-803F-FF53-B431-7C0D4F95DCF8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07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9767BB-7689-D13E-333F-FAA7B58F9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60" y="590550"/>
            <a:ext cx="7897279" cy="381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8B836E8-3266-30A3-7314-E8798CD63705}"/>
              </a:ext>
            </a:extLst>
          </p:cNvPr>
          <p:cNvSpPr txBox="1">
            <a:spLocks/>
          </p:cNvSpPr>
          <p:nvPr/>
        </p:nvSpPr>
        <p:spPr>
          <a:xfrm>
            <a:off x="2209800" y="4476750"/>
            <a:ext cx="506866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ctr"/>
            <a:r>
              <a:rPr lang="en-US" sz="2000" b="0" u="none" dirty="0">
                <a:solidFill>
                  <a:schemeClr val="tx1"/>
                </a:solidFill>
              </a:rPr>
              <a:t>Histogram</a:t>
            </a:r>
            <a:endParaRPr lang="en-IN" sz="2000" b="0" u="none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B5BBC6-2A95-F719-9B76-391B812EF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10" y="133350"/>
            <a:ext cx="7804579" cy="42672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0C28D7D-748A-74C9-E4C9-FA19B5491CD7}"/>
              </a:ext>
            </a:extLst>
          </p:cNvPr>
          <p:cNvSpPr txBox="1">
            <a:spLocks/>
          </p:cNvSpPr>
          <p:nvPr/>
        </p:nvSpPr>
        <p:spPr>
          <a:xfrm>
            <a:off x="2209800" y="4476750"/>
            <a:ext cx="5068668" cy="30777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Box Plot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A1AEB38-0BC2-6936-999F-982557BB1DAB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08</a:t>
            </a:r>
          </a:p>
        </p:txBody>
      </p:sp>
    </p:spTree>
    <p:extLst>
      <p:ext uri="{BB962C8B-B14F-4D97-AF65-F5344CB8AC3E}">
        <p14:creationId xmlns:p14="http://schemas.microsoft.com/office/powerpoint/2010/main" val="173827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D0C569-A6A8-8497-3CEB-3D41A2ABD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64" y="209550"/>
            <a:ext cx="7623072" cy="327660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A8E7B783-D1EF-8A5F-8EB4-0FDAA97C350E}"/>
              </a:ext>
            </a:extLst>
          </p:cNvPr>
          <p:cNvSpPr txBox="1"/>
          <p:nvPr/>
        </p:nvSpPr>
        <p:spPr>
          <a:xfrm>
            <a:off x="228600" y="4064481"/>
            <a:ext cx="7924800" cy="86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379095" marR="38100" indent="-367030" algn="just">
              <a:spcBef>
                <a:spcPts val="100"/>
              </a:spcBef>
              <a:buFont typeface="Arial MT"/>
              <a:buChar char="●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stress levels are associated with higher burnout risk.</a:t>
            </a:r>
          </a:p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250D160-6134-4084-05F6-B0CE0994644B}"/>
              </a:ext>
            </a:extLst>
          </p:cNvPr>
          <p:cNvSpPr txBox="1">
            <a:spLocks/>
          </p:cNvSpPr>
          <p:nvPr/>
        </p:nvSpPr>
        <p:spPr>
          <a:xfrm>
            <a:off x="2209800" y="3500628"/>
            <a:ext cx="5068668" cy="30777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Scatter Plot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D4BCC315-F674-6963-AA1E-8C65B7FDB5CF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09</a:t>
            </a:r>
          </a:p>
        </p:txBody>
      </p:sp>
    </p:spTree>
    <p:extLst>
      <p:ext uri="{BB962C8B-B14F-4D97-AF65-F5344CB8AC3E}">
        <p14:creationId xmlns:p14="http://schemas.microsoft.com/office/powerpoint/2010/main" val="513507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6B14-BBDD-7E5A-EF9D-564C139F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475CB59-DBDE-EC62-2E48-B96699D2F7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37933" y="-171450"/>
            <a:ext cx="6268134" cy="752425"/>
          </a:xfrm>
          <a:prstGeom prst="rect">
            <a:avLst/>
          </a:prstGeom>
        </p:spPr>
        <p:txBody>
          <a:bodyPr vert="horz" wrap="square" lIns="0" tIns="333668" rIns="0" bIns="0" rtlCol="0">
            <a:spAutoFit/>
          </a:bodyPr>
          <a:lstStyle/>
          <a:p>
            <a:pPr marL="509905" algn="ctr">
              <a:lnSpc>
                <a:spcPct val="100000"/>
              </a:lnSpc>
              <a:spcBef>
                <a:spcPts val="100"/>
              </a:spcBef>
            </a:pPr>
            <a:r>
              <a:rPr lang="en-US" spc="-50" dirty="0"/>
              <a:t>Data Preprocessing &amp; Model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9093D0D-A27B-E87D-E771-E8B91BD0D7A6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10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5D6DC21-CDF5-4C78-20EB-ECB6D9DBB139}"/>
              </a:ext>
            </a:extLst>
          </p:cNvPr>
          <p:cNvSpPr txBox="1"/>
          <p:nvPr/>
        </p:nvSpPr>
        <p:spPr>
          <a:xfrm>
            <a:off x="723900" y="1352550"/>
            <a:ext cx="7924800" cy="347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(80:20)</a:t>
            </a:r>
          </a:p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used: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Reasons: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target variable is continuous.</a:t>
            </a:r>
          </a:p>
          <a:p>
            <a:pPr marL="297815" marR="3810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simple and effective regression algorithm.</a:t>
            </a:r>
          </a:p>
          <a:p>
            <a:pPr marL="12065" marR="38100" algn="just">
              <a:spcBef>
                <a:spcPts val="100"/>
              </a:spcBef>
              <a:tabLst>
                <a:tab pos="379095" algn="l"/>
                <a:tab pos="1472565" algn="l"/>
                <a:tab pos="1919605" algn="l"/>
                <a:tab pos="2646045" algn="l"/>
                <a:tab pos="4344035" algn="l"/>
                <a:tab pos="5576570" algn="l"/>
                <a:tab pos="6314440" algn="l"/>
                <a:tab pos="7241540" algn="l"/>
                <a:tab pos="7701280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1387936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3200" y="135392"/>
            <a:ext cx="5068668" cy="526575"/>
          </a:xfrm>
          <a:prstGeom prst="rect">
            <a:avLst/>
          </a:prstGeom>
        </p:spPr>
        <p:txBody>
          <a:bodyPr vert="horz" wrap="square" lIns="0" tIns="110002" rIns="0" bIns="0" rtlCol="0">
            <a:spAutoFit/>
          </a:bodyPr>
          <a:lstStyle/>
          <a:p>
            <a:pPr marL="79629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Model Evaluation</a:t>
            </a: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BD29C445-1A7F-80E9-A64C-0087BDEE5029}"/>
              </a:ext>
            </a:extLst>
          </p:cNvPr>
          <p:cNvSpPr txBox="1">
            <a:spLocks/>
          </p:cNvSpPr>
          <p:nvPr/>
        </p:nvSpPr>
        <p:spPr>
          <a:xfrm>
            <a:off x="-2352" y="3409950"/>
            <a:ext cx="8305800" cy="978847"/>
          </a:xfrm>
          <a:prstGeom prst="rect">
            <a:avLst/>
          </a:prstGeom>
        </p:spPr>
        <p:txBody>
          <a:bodyPr vert="horz" wrap="square" lIns="0" tIns="12102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521334">
              <a:spcBef>
                <a:spcPts val="100"/>
              </a:spcBef>
            </a:pPr>
            <a:r>
              <a:rPr lang="en-US" sz="1800" u="none" spc="-1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Interpretation:</a:t>
            </a:r>
          </a:p>
          <a:p>
            <a:pPr marL="807084" indent="-2857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800" b="0" u="none" spc="-1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The model explains 61.47% of the variation in burnout risk.</a:t>
            </a:r>
          </a:p>
          <a:p>
            <a:pPr marL="521334">
              <a:spcBef>
                <a:spcPts val="100"/>
              </a:spcBef>
            </a:pPr>
            <a:endParaRPr lang="en-IN" sz="1800" b="0" spc="-1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CD2F69E1-78D5-9725-1235-E74710548C3B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11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15A6FC-215F-1595-366E-65EE786B0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347630"/>
              </p:ext>
            </p:extLst>
          </p:nvPr>
        </p:nvGraphicFramePr>
        <p:xfrm>
          <a:off x="457200" y="1200150"/>
          <a:ext cx="3940334" cy="19022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61970">
                  <a:extLst>
                    <a:ext uri="{9D8B030D-6E8A-4147-A177-3AD203B41FA5}">
                      <a16:colId xmlns:a16="http://schemas.microsoft.com/office/drawing/2014/main" val="2791408898"/>
                    </a:ext>
                  </a:extLst>
                </a:gridCol>
                <a:gridCol w="1378364">
                  <a:extLst>
                    <a:ext uri="{9D8B030D-6E8A-4147-A177-3AD203B41FA5}">
                      <a16:colId xmlns:a16="http://schemas.microsoft.com/office/drawing/2014/main" val="2549475084"/>
                    </a:ext>
                  </a:extLst>
                </a:gridCol>
              </a:tblGrid>
              <a:tr h="385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Metric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Value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5066809"/>
                  </a:ext>
                </a:extLst>
              </a:tr>
              <a:tr h="37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MAE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4.65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989944"/>
                  </a:ext>
                </a:extLst>
              </a:tr>
              <a:tr h="385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MSE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34.02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7418770"/>
                  </a:ext>
                </a:extLst>
              </a:tr>
              <a:tr h="385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RMSE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5.83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9799731"/>
                  </a:ext>
                </a:extLst>
              </a:tr>
              <a:tr h="37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R² Score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0.6147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81410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300" y="126020"/>
            <a:ext cx="7391400" cy="537700"/>
          </a:xfrm>
          <a:prstGeom prst="rect">
            <a:avLst/>
          </a:prstGeom>
        </p:spPr>
        <p:txBody>
          <a:bodyPr vert="horz" wrap="square" lIns="0" tIns="121020" rIns="0" bIns="0" rtlCol="0">
            <a:spAutoFit/>
          </a:bodyPr>
          <a:lstStyle/>
          <a:p>
            <a:pPr marL="521334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Key Insights &amp; Scenario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A5F44-0E3B-EB48-DE14-1D13A0124624}"/>
              </a:ext>
            </a:extLst>
          </p:cNvPr>
          <p:cNvSpPr txBox="1"/>
          <p:nvPr/>
        </p:nvSpPr>
        <p:spPr>
          <a:xfrm>
            <a:off x="444500" y="1063460"/>
            <a:ext cx="8153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stress increase burnout.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work hours increase burnout.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Sleep and exercise reduce burnout.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Analysis: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work hours by 10%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sleep by 1 hour/day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exercise by 3 hour/week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Excise showed the highest reduction in burnout risk.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2581DDB3-C5ED-2534-C7FD-3A874757B75F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209550"/>
            <a:ext cx="571500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Conclusion &amp; Recommendation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338572"/>
            <a:ext cx="8280400" cy="2833468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395"/>
              </a:spcBef>
            </a:pPr>
            <a:r>
              <a:rPr lang="en-US" b="1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Conclusion: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 marL="379095" marR="5080" indent="-367030" algn="l">
              <a:lnSpc>
                <a:spcPts val="1930"/>
              </a:lnSpc>
              <a:spcBef>
                <a:spcPts val="145"/>
              </a:spcBef>
              <a:buSzPct val="109090"/>
              <a:buFont typeface="Arial" panose="020B0604020202020204" pitchFamily="34" charset="0"/>
              <a:buChar char="•"/>
              <a:tabLst>
                <a:tab pos="379095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burnout prediction model.</a:t>
            </a:r>
          </a:p>
          <a:p>
            <a:pPr marL="379095" marR="5080" indent="-367030" algn="l">
              <a:lnSpc>
                <a:spcPts val="1930"/>
              </a:lnSpc>
              <a:spcBef>
                <a:spcPts val="145"/>
              </a:spcBef>
              <a:buSzPct val="109090"/>
              <a:buFont typeface="Arial" panose="020B0604020202020204" pitchFamily="34" charset="0"/>
              <a:buChar char="•"/>
              <a:tabLst>
                <a:tab pos="379095" algn="l"/>
              </a:tabLs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 of 0.6147.</a:t>
            </a:r>
          </a:p>
          <a:p>
            <a:pPr marL="379095" marR="5080" indent="-367030" algn="l">
              <a:lnSpc>
                <a:spcPts val="1930"/>
              </a:lnSpc>
              <a:spcBef>
                <a:spcPts val="145"/>
              </a:spcBef>
              <a:buSzPct val="109090"/>
              <a:buFont typeface="Arial" panose="020B0604020202020204" pitchFamily="34" charset="0"/>
              <a:buChar char="•"/>
              <a:tabLst>
                <a:tab pos="379095" algn="l"/>
              </a:tabLs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major burnout factors.</a:t>
            </a:r>
          </a:p>
          <a:p>
            <a:pPr marL="379095" marR="5080" indent="-367030" algn="l">
              <a:lnSpc>
                <a:spcPts val="1930"/>
              </a:lnSpc>
              <a:spcBef>
                <a:spcPts val="145"/>
              </a:spcBef>
              <a:buSzPct val="109090"/>
              <a:buFont typeface="Arial MT"/>
              <a:buChar char="●"/>
              <a:tabLst>
                <a:tab pos="379095" algn="l"/>
              </a:tabLst>
            </a:pP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l">
              <a:lnSpc>
                <a:spcPts val="1930"/>
              </a:lnSpc>
              <a:spcBef>
                <a:spcPts val="145"/>
              </a:spcBef>
              <a:buSzPct val="109090"/>
              <a:tabLst>
                <a:tab pos="379095" algn="l"/>
              </a:tabLst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pPr marL="297815" marR="5080" indent="-285750" algn="l">
              <a:lnSpc>
                <a:spcPts val="1930"/>
              </a:lnSpc>
              <a:spcBef>
                <a:spcPts val="145"/>
              </a:spcBef>
              <a:buSzPct val="109090"/>
              <a:buFont typeface="Arial" panose="020B0604020202020204" pitchFamily="34" charset="0"/>
              <a:buChar char="•"/>
              <a:tabLst>
                <a:tab pos="379095" algn="l"/>
              </a:tabLs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excessive workload.</a:t>
            </a:r>
          </a:p>
          <a:p>
            <a:pPr marL="297815" marR="5080" indent="-285750" algn="l">
              <a:lnSpc>
                <a:spcPts val="1930"/>
              </a:lnSpc>
              <a:spcBef>
                <a:spcPts val="145"/>
              </a:spcBef>
              <a:buSzPct val="109090"/>
              <a:buFont typeface="Arial" panose="020B0604020202020204" pitchFamily="34" charset="0"/>
              <a:buChar char="•"/>
              <a:tabLst>
                <a:tab pos="379095" algn="l"/>
              </a:tabLs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healthy sleep habits.</a:t>
            </a:r>
          </a:p>
          <a:p>
            <a:pPr marL="297815" marR="5080" indent="-285750" algn="l">
              <a:lnSpc>
                <a:spcPts val="1930"/>
              </a:lnSpc>
              <a:spcBef>
                <a:spcPts val="145"/>
              </a:spcBef>
              <a:buSzPct val="109090"/>
              <a:buFont typeface="Arial" panose="020B0604020202020204" pitchFamily="34" charset="0"/>
              <a:buChar char="•"/>
              <a:tabLst>
                <a:tab pos="379095" algn="l"/>
              </a:tabLs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fitness and wellness programs.</a:t>
            </a:r>
          </a:p>
          <a:p>
            <a:pPr marL="297815" marR="5080" indent="-285750" algn="l">
              <a:lnSpc>
                <a:spcPts val="1930"/>
              </a:lnSpc>
              <a:spcBef>
                <a:spcPts val="145"/>
              </a:spcBef>
              <a:buSzPct val="109090"/>
              <a:buFont typeface="Arial" panose="020B0604020202020204" pitchFamily="34" charset="0"/>
              <a:buChar char="•"/>
              <a:tabLst>
                <a:tab pos="379095" algn="l"/>
              </a:tabLs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Monitors employee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strees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levels regularly.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>
              <a:lnSpc>
                <a:spcPts val="1930"/>
              </a:lnSpc>
              <a:spcBef>
                <a:spcPts val="145"/>
              </a:spcBef>
              <a:buSzPct val="109090"/>
              <a:tabLst>
                <a:tab pos="379095" algn="l"/>
              </a:tabLst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6C96E38-AB3D-A825-709A-D55171ABCC04}"/>
              </a:ext>
            </a:extLst>
          </p:cNvPr>
          <p:cNvSpPr txBox="1">
            <a:spLocks/>
          </p:cNvSpPr>
          <p:nvPr/>
        </p:nvSpPr>
        <p:spPr>
          <a:xfrm>
            <a:off x="8229600" y="4933950"/>
            <a:ext cx="838200" cy="1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0" u="none" spc="-10" dirty="0">
                <a:solidFill>
                  <a:schemeClr val="bg1"/>
                </a:solidFill>
              </a:rPr>
              <a:t>Slide No :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1987</TotalTime>
  <Words>426</Words>
  <Application>Microsoft Office PowerPoint</Application>
  <PresentationFormat>On-screen Show (16:9)</PresentationFormat>
  <Paragraphs>123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Arial MT</vt:lpstr>
      <vt:lpstr>Calibri</vt:lpstr>
      <vt:lpstr>Times New Roman</vt:lpstr>
      <vt:lpstr>Office Theme</vt:lpstr>
      <vt:lpstr>PowerPoint Presentation</vt:lpstr>
      <vt:lpstr>CONTENTS</vt:lpstr>
      <vt:lpstr>Introduction</vt:lpstr>
      <vt:lpstr>Problem Statement </vt:lpstr>
      <vt:lpstr>Data Description</vt:lpstr>
      <vt:lpstr>Exploratory Data Analysis</vt:lpstr>
      <vt:lpstr>Heatmap</vt:lpstr>
      <vt:lpstr>Data Visualization</vt:lpstr>
      <vt:lpstr>PowerPoint Presentation</vt:lpstr>
      <vt:lpstr>PowerPoint Presentation</vt:lpstr>
      <vt:lpstr>Data Preprocessing &amp; Model</vt:lpstr>
      <vt:lpstr>Model Evaluation</vt:lpstr>
      <vt:lpstr>Key Insights &amp; Scenario Analysis</vt:lpstr>
      <vt:lpstr>Conclusion &amp; Recommendation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Dept. of CS&amp;E ( DATA SCIENCE) Adichunchanagiri Institute of Technology Chikkamagaluru - 577102</dc:title>
  <dc:creator>YASHWANTH</dc:creator>
  <cp:lastModifiedBy>Aaftab Tangewale</cp:lastModifiedBy>
  <cp:revision>39</cp:revision>
  <dcterms:created xsi:type="dcterms:W3CDTF">2026-03-26T07:03:57Z</dcterms:created>
  <dcterms:modified xsi:type="dcterms:W3CDTF">2026-06-05T02:39:49Z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2026-03-26T00:00:00Z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2026-03-26T00:00:00Z</vt:filetime>
  </property>
</Properties>
</file>